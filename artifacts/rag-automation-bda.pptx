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Data Automation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(BDA)를 이용한 RAG 구현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3611880"/>
            <a:ext cx="822960" cy="45720"/>
          </a:xfrm>
          <a:prstGeom prst="rect">
            <a:avLst/>
          </a:prstGeom>
          <a:solidFill>
            <a:srgbClr val="F66C02"/>
          </a:solidFill>
          <a:ln w="12700">
            <a:solidFill>
              <a:srgbClr val="F66C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794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멀티모달 콘텐츠 파싱 · Knowledge Bases · 인프라 자동 배포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kyopark2014/rag-automation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72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발표자  ·  Solutions Architect  ·  Amazon Web Services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161E2D"/>
          </a:solidFill>
          <a:ln w="12700">
            <a:solidFill>
              <a:srgbClr val="161E2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325880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1325880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BDA 개요와 RAG 통합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84248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161E2D"/>
          </a:solidFill>
          <a:ln w="12700">
            <a:solidFill>
              <a:srgbClr val="161E2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984248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984248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파서 옵션 비교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42616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161E2D"/>
          </a:solidFill>
          <a:ln w="12700">
            <a:solidFill>
              <a:srgbClr val="161E2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64261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642616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BDA가 처리하는 데이터 유형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300984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161E2D"/>
          </a:solidFill>
          <a:ln w="12700">
            <a:solidFill>
              <a:srgbClr val="161E2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300984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330098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처리 제한 사항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959352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161E2D"/>
          </a:solidFill>
          <a:ln w="12700">
            <a:solidFill>
              <a:srgbClr val="161E2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959352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959352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 출력 vs 커스텀 출력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161E2D"/>
          </a:solidFill>
          <a:ln w="12700">
            <a:solidFill>
              <a:srgbClr val="161E2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4617720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4617720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구성 방법 (ParsingConfiguration)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276088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161E2D"/>
          </a:solidFill>
          <a:ln w="12700">
            <a:solidFill>
              <a:srgbClr val="161E2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5276088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5276088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CLI Knowledge Base 생성 예시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17920" y="1325880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161E2D"/>
          </a:solidFill>
          <a:ln w="12700">
            <a:solidFill>
              <a:srgbClr val="161E2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1325880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95160" y="1325880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Cross-Region Inference (CRIS)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0" y="1984248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161E2D"/>
          </a:solidFill>
          <a:ln w="12700">
            <a:solidFill>
              <a:srgbClr val="161E2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55080" y="1984248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95160" y="1984248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권한 / 멀티모달 스토리지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217920" y="2642616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161E2D"/>
          </a:solidFill>
          <a:ln w="12700">
            <a:solidFill>
              <a:srgbClr val="161E2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55080" y="264261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95160" y="2642616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모델 조합 가이드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217920" y="3300984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161E2D"/>
          </a:solidFill>
          <a:ln w="12700">
            <a:solidFill>
              <a:srgbClr val="161E2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55080" y="3300984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995160" y="330098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활용 사례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217920" y="3959352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161E2D"/>
          </a:solidFill>
          <a:ln w="12700">
            <a:solidFill>
              <a:srgbClr val="161E2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55080" y="3959352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995160" y="3959352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구조 / 실행 흐름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217920" y="4617720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161E2D"/>
          </a:solidFill>
          <a:ln w="12700">
            <a:solidFill>
              <a:srgbClr val="161E2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355080" y="4617720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995160" y="4617720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설치 및 실행 / 문제 해결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Data Automation (BDA) RAG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BDA 개요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161E2D"/>
          </a:solidFill>
          <a:ln w="19050">
            <a:solidFill>
              <a:srgbClr val="C91F8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46304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Bedrock Data Automation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 문서·이미지·영상·오디오 등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비정형 콘텐츠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에서 가치 있는 인사이트를 추출하는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 관리형 클라우드 서비스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입니다.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3593592" cy="2743200"/>
          </a:xfrm>
          <a:prstGeom prst="roundRect">
            <a:avLst>
              <a:gd name="adj" fmla="val 4000"/>
            </a:avLst>
          </a:prstGeom>
          <a:solidFill>
            <a:srgbClr val="161E2D"/>
          </a:solidFill>
          <a:ln w="19050">
            <a:solidFill>
              <a:srgbClr val="F66C0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65760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389120"/>
            <a:ext cx="304495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/ 이미지 / 오디오 / 비디오를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구조화된 데이터로 변환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25112" y="3383280"/>
            <a:ext cx="3593592" cy="2743200"/>
          </a:xfrm>
          <a:prstGeom prst="roundRect">
            <a:avLst>
              <a:gd name="adj" fmla="val 4000"/>
            </a:avLst>
          </a:prstGeom>
          <a:solidFill>
            <a:srgbClr val="161E2D"/>
          </a:solidFill>
          <a:ln w="19050">
            <a:solidFill>
              <a:srgbClr val="F66C0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9432" y="365760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API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99432" y="4389120"/>
            <a:ext cx="304495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모델 오케스트레이션 없이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API 호출로 처리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01584" y="3383280"/>
            <a:ext cx="3593592" cy="2743200"/>
          </a:xfrm>
          <a:prstGeom prst="roundRect">
            <a:avLst>
              <a:gd name="adj" fmla="val 4000"/>
            </a:avLst>
          </a:prstGeom>
          <a:solidFill>
            <a:srgbClr val="161E2D"/>
          </a:solidFill>
          <a:ln w="19050">
            <a:solidFill>
              <a:srgbClr val="F66C0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75904" y="365760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Quality ↑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75904" y="4389120"/>
            <a:ext cx="304495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Bases 파서로 적용 시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품질이 크게 향상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Data Automation (BDA) RAG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파서 옵션 비교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Bases가 지원하는 3가지 파서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200400"/>
                <a:gridCol w="320040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00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기본 파서 (Default)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00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BDA 파서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00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파운데이션 모델 파서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00C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지원 형식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.txt, .md, .html, .docx,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.xlsx, .pdf (텍스트만)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PDF, JPEG, PNG,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오디오, 비디오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PDF, JPEG, PNG,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구조화 문서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멀티모달 처리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불가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가능 (이미지·도표·표·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오디오·비디오)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가능 (이미지·도표·표)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프롬프트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커스터마이징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불가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불가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가능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비용 구조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무료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페이지/이미지 수 기준 과금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입출력 토큰 수 기준 과금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파일 크기 제한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최대 100 GB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12064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1A0B3D"/>
          </a:solidFill>
          <a:ln w="19050">
            <a:solidFill>
              <a:srgbClr val="F66C0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중요 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BDA 또는 파운데이션 모델 파서를 선택하면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해당 데이터 소스의 모든 PDF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 적용됩니다.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텍스트만 포함된 PDF도 예외 없이 과금 대상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됩니다.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Data Automation (BDA) RAG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BDA가 처리하는 데이터 유형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2514600"/>
          </a:xfrm>
          <a:prstGeom prst="roundRect">
            <a:avLst>
              <a:gd name="adj" fmla="val 4364"/>
            </a:avLst>
          </a:prstGeom>
          <a:solidFill>
            <a:srgbClr val="161E2D"/>
          </a:solidFill>
          <a:ln w="15240">
            <a:solidFill>
              <a:srgbClr val="C91F8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63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Documents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199339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형식: PDF, TIFF, JPEG, PNG, DOCX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추출, 도표·차트 설명,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 구조 인식, 손글씨 인식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DOCX는 내부적으로 PDF로 변환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5486400" cy="2514600"/>
          </a:xfrm>
          <a:prstGeom prst="roundRect">
            <a:avLst>
              <a:gd name="adj" fmla="val 4364"/>
            </a:avLst>
          </a:prstGeom>
          <a:solidFill>
            <a:srgbClr val="161E2D"/>
          </a:solidFill>
          <a:ln w="15240">
            <a:solidFill>
              <a:srgbClr val="C91F8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463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  Images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92240" y="199339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형식: JPEG, PNG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6517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내 텍스트 추출(OCR)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시각적 설명(visual description) 생성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86400" cy="2514600"/>
          </a:xfrm>
          <a:prstGeom prst="roundRect">
            <a:avLst>
              <a:gd name="adj" fmla="val 4364"/>
            </a:avLst>
          </a:prstGeom>
          <a:solidFill>
            <a:srgbClr val="161E2D"/>
          </a:solidFill>
          <a:ln w="15240">
            <a:solidFill>
              <a:srgbClr val="C91F8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160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  Audio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469087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형식: AMR, FLAC, M4A, MP3, Ogg, WAV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34924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→ 텍스트 트랜스크립트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다국어: EN, DE, ES, FR, IT, PT,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JA, KO, ZH(대만/광둥)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0" y="3977640"/>
            <a:ext cx="5486400" cy="2514600"/>
          </a:xfrm>
          <a:prstGeom prst="roundRect">
            <a:avLst>
              <a:gd name="adj" fmla="val 4364"/>
            </a:avLst>
          </a:prstGeom>
          <a:solidFill>
            <a:srgbClr val="161E2D"/>
          </a:solidFill>
          <a:ln w="15240">
            <a:solidFill>
              <a:srgbClr val="C91F8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4160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 Video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469087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형식: MP4, MOV, AVI, MKV, WEBM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(H.264 / H.265 / VP8 / VP9)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534924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장면 요약, 텍스트 추출,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분류, 오디오 트랜스크립트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Data Automation (BDA) RAG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처리 제한 사항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비동기 (Async) 처리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56692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600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제한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600C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8D0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최대 페이지 수 (분할 활성화)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3,000 페이지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8D0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최대 파일 크기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MB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8D0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최대 비디오 길이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 분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8D0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최대 오디오 길이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 분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8D0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최대 이미지 해상도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8D0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최소 텍스트 감지 높이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px (8pt @ 150 DPI)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동기 (Sync) 처리</a:t>
            </a:r>
            <a:endParaRPr lang="en-US" sz="18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508760"/>
          <a:ext cx="54864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600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제한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600C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8D0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최대 페이지 수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페이지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8D0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최대 파일 크기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/ 블루프린트 제한</a:t>
            </a:r>
            <a:endParaRPr lang="en-US" sz="18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3520440"/>
          <a:ext cx="54864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600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제한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600C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8D0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프로젝트당 최대 블루프린트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40개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8D0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계정당 최대 프로젝트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100개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8D0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계정당 최대 블루프린트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1,000개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8D0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블루프린트 이름 최대 길이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60자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8D0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블루프린트 최대 크기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100,000자 (JSON)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457200" y="4251960"/>
            <a:ext cx="5669280" cy="1965960"/>
          </a:xfrm>
          <a:prstGeom prst="roundRect">
            <a:avLst>
              <a:gd name="adj" fmla="val 3721"/>
            </a:avLst>
          </a:prstGeom>
          <a:solidFill>
            <a:srgbClr val="1A0B3D"/>
          </a:solidFill>
          <a:ln w="15240">
            <a:solidFill>
              <a:srgbClr val="C91F8A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40080" y="4343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제약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85800" y="470916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수직 방향 텍스트(세로쓰기) 인식 미지원
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비밀번호 보호 PDF 처리 불가
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PDF 최대: 40인치 / 9,000포인트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Data Automation (BDA) RAG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BDA 파서 동작 방식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Output / Custom Output / Projects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669280" cy="4846320"/>
          </a:xfrm>
          <a:prstGeom prst="roundRect">
            <a:avLst>
              <a:gd name="adj" fmla="val 2264"/>
            </a:avLst>
          </a:prstGeom>
          <a:solidFill>
            <a:srgbClr val="161E2D"/>
          </a:solidFill>
          <a:ln w="19050">
            <a:solidFill>
              <a:srgbClr val="F66C0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 출력 (Standard Output)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블루프린트/프로젝트 없이 파일을 보내면 파일 유형에 맞는 기본 출력을 반환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88920"/>
          <a:ext cx="5303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8404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데이터 유형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600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기본 출력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600C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문서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텍스트 추출, 문서 요약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오디오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전체 트랜스크립트, 요약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비디오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장면 요약, 감지 텍스트, 분류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이미지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텍스트 추출, 시각적 설명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4864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적용: 모든 데이터 유형(문서/오디오/이미지/비디오)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669280" cy="2331720"/>
          </a:xfrm>
          <a:prstGeom prst="roundRect">
            <a:avLst>
              <a:gd name="adj" fmla="val 4706"/>
            </a:avLst>
          </a:prstGeom>
          <a:solidFill>
            <a:srgbClr val="161E2D"/>
          </a:solidFill>
          <a:ln w="19050">
            <a:solidFill>
              <a:srgbClr val="C91F8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15544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1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출력 (Custom Output)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46520" y="205740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블루프린트(Blueprint)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추출 필드를 정확히 정의
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문서 / 오디오 / 이미지에 적용 가능
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비즈니스 워크플로 특화 정보 추출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63640" y="3886200"/>
            <a:ext cx="5669280" cy="2377440"/>
          </a:xfrm>
          <a:prstGeom prst="roundRect">
            <a:avLst>
              <a:gd name="adj" fmla="val 4615"/>
            </a:avLst>
          </a:prstGeom>
          <a:solidFill>
            <a:srgbClr val="161E2D"/>
          </a:solidFill>
          <a:ln w="19050">
            <a:solidFill>
              <a:srgbClr val="5600C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46520" y="40233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(Projects)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446520" y="452628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표준/커스텀 출력 구성을 하나의 리소스로 관리
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66C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InvokeDataAutomationAsync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API에 ARN 전달
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스테이지: </a:t>
            </a:r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/ DEVELOPMENT</a:t>
            </a:r>
            <a:pPr indent="0" marL="0">
              <a:lnSpc>
                <a:spcPct val="140000"/>
              </a:lnSpc>
              <a:buNone/>
            </a:pP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DEVELOPMENT는 콘솔 접근 불가, API 전용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Data Automation (BDA) RAG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구성: ParsingConfiguration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Bases 데이터 소스에 BDA 파서를 지정하는 JSON 구조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6858000" cy="365760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 w="15240">
            <a:solidFill>
              <a:srgbClr val="5600C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08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6C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ParsingConfiguration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6492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"parsingStrategy": "BEDROCK_DATA_AUTOMATION",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"bedrockDataAutomationConfiguration": {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"parsingModality": "MULTIMODAL"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8080" y="1417320"/>
            <a:ext cx="4434840" cy="3657600"/>
          </a:xfrm>
          <a:prstGeom prst="roundRect">
            <a:avLst>
              <a:gd name="adj" fmla="val 2000"/>
            </a:avLst>
          </a:prstGeom>
          <a:solidFill>
            <a:srgbClr val="161E2D"/>
          </a:solidFill>
          <a:ln w="15240">
            <a:solidFill>
              <a:srgbClr val="C91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1508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필드 설명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80960" y="192024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66C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parsingStrategy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BEDROCK_FOUNDATION_MODEL 또는
BEDROCK_DATA_AUTOMATION 중 선택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66C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parsingModality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지정 시 텍스트+이미지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멀티모달 파싱 활성화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5257800"/>
            <a:ext cx="11475720" cy="914400"/>
          </a:xfrm>
          <a:prstGeom prst="roundRect">
            <a:avLst>
              <a:gd name="adj" fmla="val 8000"/>
            </a:avLst>
          </a:prstGeom>
          <a:solidFill>
            <a:srgbClr val="1A0B3D"/>
          </a:solidFill>
          <a:ln w="15240">
            <a:solidFill>
              <a:srgbClr val="F66C0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5349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자동 폴백 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BDA 또는 파운데이션 모델 파서가 파일 파싱에 실패하면,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자동으로 기본 파서로 폴백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처리됩니다.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Data Automation (BDA) RAG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CLI: Knowledge Base 생성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CLI 명령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475720" cy="640080"/>
          </a:xfrm>
          <a:prstGeom prst="roundRect">
            <a:avLst>
              <a:gd name="adj" fmla="val 8571"/>
            </a:avLst>
          </a:prstGeom>
          <a:solidFill>
            <a:srgbClr val="0D1117"/>
          </a:solidFill>
          <a:ln w="12700">
            <a:solidFill>
              <a:srgbClr val="5600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bedrock-agent create-knowledge-base \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--cli-input-json file://kb-bda-parser.json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kb-bda-parser.json (요약 — 플레이스홀더는 실제 값으로 교체)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11475720" cy="3794760"/>
          </a:xfrm>
          <a:prstGeom prst="roundRect">
            <a:avLst>
              <a:gd name="adj" fmla="val 1446"/>
            </a:avLst>
          </a:prstGeom>
          <a:solidFill>
            <a:srgbClr val="0D1117"/>
          </a:solidFill>
          <a:ln w="12700">
            <a:solidFill>
              <a:srgbClr val="C91F8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514600"/>
            <a:ext cx="11155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"knowledgeBaseConfiguration":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"vectorKnowledgeBaseConfiguration":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"embeddingModelArn":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"arn:aws:bedrock:us-east-1::foundation-model/amazon.nova-2-multimodal-embeddings-v1:0",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"supplementalDataStorageConfiguration":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"storageLocations": [{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"type": "S3",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"s3Location": { "uri": "s3://&lt;multimodal-storage-bucket&gt;/" 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}]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 "VECTOR"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"storageConfiguration":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"opensearchServerlessConfiguration":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"collectionArn": "arn:aws:aoss:us-east-1:&lt;account-id&gt;:collection/&lt;collection-id&gt;",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"vectorIndexName": "&lt;index-name&gt;",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"fieldMapping":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"vectorField": "&lt;vector-field&gt;",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"textField":   "&lt;text-field&gt;",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"metadataField": "&lt;metadata-field&gt;"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 "OPENSEARCH_SERVERLESS"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"&lt;knowledge-base-name&gt;",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 "Knowledge base with BDA parser"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Data Automation (BDA) RAG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Cross-Region Inference (CRIS) 필수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BDA는 CRIS를 반드시 사용해야 하며, 추가 비용은 발생하지 않습니다. 데이터는 원본 소스 리전에만 저장됩니다.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475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5074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소스 리전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600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ARN 패턴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600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처리 가능 리전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600C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East (N. Virginia)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us.data-automation-v1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us-east-1/2, us-west-1/2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West (Oregon)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us.data-automation-v1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us-east-1/2, us-west-1/2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Europe (Frankfurt)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eu.data-automation-v1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eu-central-1, eu-north-1, eu-south-1/2,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eu-west-1/3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Europe (Ireland)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eu.data-automation-v1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eu-central-1, eu-north-1, eu-south-1/2,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eu-west-1/3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Europe (London)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eu.data-automation-v1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eu-west-2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Asia Pacific (Mumbai)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apac.data-automation-v1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ap-northeast-1/2/3, ap-south-1/2,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ap-southeast-1/2/4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Asia Pacific (Sydney)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apac.data-automation-v1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ap-northeast-1/2/3, ap-south-1/2,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ap-southeast-1/2/4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GovCloud (US-West)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us-gov.data-automation-v1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us-gov-west-1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Data Automation (BDA) RAG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권한 구성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BDA 파서 기본 권한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760720" cy="4892040"/>
          </a:xfrm>
          <a:prstGeom prst="roundRect">
            <a:avLst>
              <a:gd name="adj" fmla="val 1495"/>
            </a:avLst>
          </a:prstGeom>
          <a:solidFill>
            <a:srgbClr val="0D1117"/>
          </a:solidFill>
          <a:ln w="12700">
            <a:solidFill>
              <a:srgbClr val="5600C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548640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"Effect": "Allow",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"Action": [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"bedrock:InvokeDataAutomationAsync",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"bedrock:GetDataAutomationStatus"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"Resource": [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"arn:aws:bedrock:us-east-1:&lt;acct&gt;: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data-automation-profile/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us.data-automation-v1",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"arn:aws:bedrock:us-west-2:&lt;acct&gt;: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data-automation-profile/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us.data-automation-v1"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960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멀티모달 스토리지 S3 권한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325880"/>
            <a:ext cx="5669280" cy="3063240"/>
          </a:xfrm>
          <a:prstGeom prst="roundRect">
            <a:avLst>
              <a:gd name="adj" fmla="val 2388"/>
            </a:avLst>
          </a:prstGeom>
          <a:solidFill>
            <a:srgbClr val="0D1117"/>
          </a:solidFill>
          <a:ln w="12700">
            <a:solidFill>
              <a:srgbClr val="C91F8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417320"/>
            <a:ext cx="544068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"Effect": "Allow",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"Action": [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"s3:GetObject",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"s3:PutObject",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"s3:ListBucket"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"Resource": [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"arn:aws:s3:::&lt;multimodal-bucket&gt;",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"arn:aws:s3:::&lt;multimodal-bucket&gt;/*"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4526280"/>
            <a:ext cx="5669280" cy="1691640"/>
          </a:xfrm>
          <a:prstGeom prst="roundRect">
            <a:avLst>
              <a:gd name="adj" fmla="val 4324"/>
            </a:avLst>
          </a:prstGeom>
          <a:solidFill>
            <a:srgbClr val="1A0B3D"/>
          </a:solidFill>
          <a:ln w="15240">
            <a:solidFill>
              <a:srgbClr val="F66C0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4617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참고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493776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고객 관리형 KMS 키 사용 시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KMS 키 작업 + 그랜트 생성 권한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추가 필요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Console에서 KB 생성 시, Bedrock Knowledge Bases가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필요한 권한을 자동 구성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Data Automation (BDA) RAG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멀티모달 스토리지 설정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4757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600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Nova 멀티모달 임베딩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600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BDA 파서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600C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스토리지 설정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필수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선택 사항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스토리지 미설정 시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멀티모달 처리 불가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텍스트 파싱만 가능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스토리지 설정 시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이미지/오디오/비디오 직접 검색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이미지/오디오/비디오 멀티모달 파싱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스토리지 구성 권장 사항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361188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161E2D"/>
          </a:solidFill>
          <a:ln w="19050">
            <a:solidFill>
              <a:srgbClr val="F66C0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3749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별도 버킷 (권장)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85800" y="425196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소스 버킷과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멀티모달 스토리지 버킷을 분리.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 단순 + 충돌 방지 효과적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79392" y="361188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161E2D"/>
          </a:solidFill>
          <a:ln w="19050">
            <a:solidFill>
              <a:srgbClr val="C91F8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07992" y="3749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동일 버킷 사용 시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507992" y="425196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소스에 포함 접두사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(inclusion prefix) 반드시 지정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추출 미디어 재수집 방지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101584" y="361188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161E2D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30184" y="3749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aws/ 접두사 금지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330184" y="425196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버킷에서 aws/ 접두사는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불가. 추출 미디어 저장용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예약 경로입니다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5623560"/>
            <a:ext cx="11475720" cy="685800"/>
          </a:xfrm>
          <a:prstGeom prst="roundRect">
            <a:avLst>
              <a:gd name="adj" fmla="val 10667"/>
            </a:avLst>
          </a:prstGeom>
          <a:solidFill>
            <a:srgbClr val="1A0B3D"/>
          </a:solidFill>
          <a:ln w="12700">
            <a:solidFill>
              <a:srgbClr val="5600C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56692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S3 Lifecycle 정책 권장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멀티모달 임베딩은 처리 후 임시 데이터 삭제를 시도 → 임시 경로에 라이프사이클 정책 적용 권장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Data Automation (BDA) RAG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모델 선택 가이드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상황에 맞는 파서 + 임베딩 모델 조합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47572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644652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상황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600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권장 구성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600C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8D0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텍스트 문서 위주, 멀티모달 불필요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기본 파서 + 텍스트 임베딩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8D0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PDF / 이미지 포함, 텍스트 기반 검색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BDA 파서 + 텍스트 임베딩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8D0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이미지 / 오디오 / 비디오 직접 시각 검색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BDA 파서 + Nova 멀티모달 임베딩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8D0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음성 콘텐츠 검색 필요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BDA 파서 (Nova 멀티모달은 음성 검색 제한적)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8D0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이미지 전용 데이터셋 검색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66C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Titan Multimodal Embeddings G1 + 기본 파서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074920"/>
            <a:ext cx="5733288" cy="1280160"/>
          </a:xfrm>
          <a:prstGeom prst="roundRect">
            <a:avLst>
              <a:gd name="adj" fmla="val 7143"/>
            </a:avLst>
          </a:prstGeom>
          <a:solidFill>
            <a:srgbClr val="161E2D"/>
          </a:solidFill>
          <a:ln w="15240">
            <a:solidFill>
              <a:srgbClr val="F66C0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5166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임베딩 + BDA 파서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55321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BDA가 멀티모달 → 텍스트 변환 후 저장.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검색은 텍스트 기반이지만 멀티모달 파싱 결과를 활용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81928" y="5074920"/>
            <a:ext cx="5733288" cy="1280160"/>
          </a:xfrm>
          <a:prstGeom prst="roundRect">
            <a:avLst>
              <a:gd name="adj" fmla="val 7143"/>
            </a:avLst>
          </a:prstGeom>
          <a:solidFill>
            <a:srgbClr val="161E2D"/>
          </a:solidFill>
          <a:ln w="15240">
            <a:solidFill>
              <a:srgbClr val="C91F8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64808" y="5166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1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멀티모달 임베딩 + BDA 파서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64808" y="55321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BDA 파싱 후 Nova 임베딩 적용.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Nova는 BDA의 텍스트 변환 결과를 사용 (네이티브 멀티모달 임베딩 X)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Data Automation (BDA) RAG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활용 사례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703320" cy="2286000"/>
          </a:xfrm>
          <a:prstGeom prst="roundRect">
            <a:avLst>
              <a:gd name="adj" fmla="val 4000"/>
            </a:avLst>
          </a:prstGeom>
          <a:solidFill>
            <a:srgbClr val="161E2D"/>
          </a:solidFill>
          <a:ln w="15240">
            <a:solidFill>
              <a:srgbClr val="C91F8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4630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지능형 문서 처리 (IDP)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계약서·청구서·양식에서 구조화된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추출 및 분류, 대규모 자동화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97680" y="1280160"/>
            <a:ext cx="3703320" cy="2286000"/>
          </a:xfrm>
          <a:prstGeom prst="roundRect">
            <a:avLst>
              <a:gd name="adj" fmla="val 4000"/>
            </a:avLst>
          </a:prstGeom>
          <a:solidFill>
            <a:srgbClr val="161E2D"/>
          </a:solidFill>
          <a:ln w="15240">
            <a:solidFill>
              <a:srgbClr val="C91F8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14630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멀티미디어 분석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26280" y="219456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장면 요약, 부적절 콘텐츠 감지,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광고/브랜드 분류, 지능형 영상 검색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38160" y="1280160"/>
            <a:ext cx="3703320" cy="2286000"/>
          </a:xfrm>
          <a:prstGeom prst="roundRect">
            <a:avLst>
              <a:gd name="adj" fmla="val 4000"/>
            </a:avLst>
          </a:prstGeom>
          <a:solidFill>
            <a:srgbClr val="161E2D"/>
          </a:solidFill>
          <a:ln w="15240">
            <a:solidFill>
              <a:srgbClr val="C91F8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66760" y="14630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RAG 강화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366760" y="219456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문서·이미지·오디오·비디오를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포함한 지식 베이스로 QA 정확도 향상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30752"/>
            <a:ext cx="3703320" cy="2286000"/>
          </a:xfrm>
          <a:prstGeom prst="roundRect">
            <a:avLst>
              <a:gd name="adj" fmla="val 4000"/>
            </a:avLst>
          </a:prstGeom>
          <a:solidFill>
            <a:srgbClr val="161E2D"/>
          </a:solidFill>
          <a:ln w="15240">
            <a:solidFill>
              <a:srgbClr val="C91F8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913632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 회의록 / 강의 분석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5800" y="4645152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오디오 및 비디오 파일의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트랜스크립트 + 요약 자동 생성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97680" y="3730752"/>
            <a:ext cx="3703320" cy="2286000"/>
          </a:xfrm>
          <a:prstGeom prst="roundRect">
            <a:avLst>
              <a:gd name="adj" fmla="val 4000"/>
            </a:avLst>
          </a:prstGeom>
          <a:solidFill>
            <a:srgbClr val="161E2D"/>
          </a:solidFill>
          <a:ln w="15240">
            <a:solidFill>
              <a:srgbClr val="C91F8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26280" y="3913632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복합 문서 검색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26280" y="4645152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내 도표·차트·표·이미지가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포함된 문서의 시맨틱 검색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38160" y="3730752"/>
            <a:ext cx="3703320" cy="2286000"/>
          </a:xfrm>
          <a:prstGeom prst="roundRect">
            <a:avLst>
              <a:gd name="adj" fmla="val 4000"/>
            </a:avLst>
          </a:prstGeom>
          <a:solidFill>
            <a:srgbClr val="161E2D"/>
          </a:solidFill>
          <a:ln w="15240">
            <a:solidFill>
              <a:srgbClr val="C91F8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66760" y="3913632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단일 API 자동화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66760" y="4645152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오케스트레이션 없이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InvokeDataAutomationAsync 한 번으로 처리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Data Automation (BDA) RAG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구조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인프라 자동화 스크립트 (루트) + Streamlit RAG 애플리케이션 (application/)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475720" cy="4846320"/>
          </a:xfrm>
          <a:prstGeom prst="roundRect">
            <a:avLst>
              <a:gd name="adj" fmla="val 1509"/>
            </a:avLst>
          </a:prstGeom>
          <a:solidFill>
            <a:srgbClr val="0D1117"/>
          </a:solidFill>
          <a:ln w="15240">
            <a:solidFill>
              <a:srgbClr val="5600C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08760"/>
            <a:ext cx="11155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rag-automation/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                  # 프로젝트 개요 / BDA·RAG 가이드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           # Python 패키지 의존성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config.toml                # Streamlit 서버/테마 설정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installer.py               # AWS 인프라 일괄 배포 (boto3)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installer.md               # installer.py 상세 문서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uninstaller.py             # 리소스 일괄 삭제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add_content.py             # S3 업로드 + KB 동기화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application/               # Streamlit 챗봇 / RAG / Agent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app.py                 # Streamlit 진입점 (UI, 모드 선택)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chat.py                # Bedrock 호출, RAG/이미지 분석 핵심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info.py                # Bedrock 모델 카탈로그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langgraph_agent.py     # LangGraph ReAct 에이전트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mcp_config.py          # MCP 서버 프로파일 로더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mcp_retrieve.py        # KB retrieve API 래퍼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mcp_server_retrieve.py # FastMCP retrieve MCP 서버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utils.py               # 공통 유틸 (설정, 시크릿)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config.json            # 런타임 설정 (region, KB ID 등)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Data Automation (BDA) RAG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흐름 요약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788920" cy="4206240"/>
          </a:xfrm>
          <a:prstGeom prst="roundRect">
            <a:avLst>
              <a:gd name="adj" fmla="val 3934"/>
            </a:avLst>
          </a:prstGeom>
          <a:solidFill>
            <a:srgbClr val="161E2D"/>
          </a:solidFill>
          <a:ln w="19050">
            <a:solidFill>
              <a:srgbClr val="F66C0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85900" y="1645920"/>
            <a:ext cx="731520" cy="731520"/>
          </a:xfrm>
          <a:prstGeom prst="ellipse">
            <a:avLst/>
          </a:prstGeom>
          <a:solidFill>
            <a:srgbClr val="F66C02"/>
          </a:solidFill>
          <a:ln w="12700">
            <a:solidFill>
              <a:srgbClr val="F66C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8590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5146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 프로비저닝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2423160" cy="502920"/>
          </a:xfrm>
          <a:prstGeom prst="roundRect">
            <a:avLst>
              <a:gd name="adj" fmla="val 10909"/>
            </a:avLst>
          </a:prstGeom>
          <a:solidFill>
            <a:srgbClr val="0D1117"/>
          </a:solidFill>
          <a:ln w="10160">
            <a:solidFill>
              <a:srgbClr val="5600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1546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66C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installer.py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24231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BDA 파서 적용 KB +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EC2/ALB/CloudFront 스택 생성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config.json 자동 채움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rot="5400000">
            <a:off x="3246120" y="3291840"/>
            <a:ext cx="118872" cy="457200"/>
          </a:xfrm>
          <a:prstGeom prst="rtTriangle">
            <a:avLst/>
          </a:prstGeom>
          <a:solidFill>
            <a:srgbClr val="F66C02"/>
          </a:solidFill>
          <a:ln w="12700">
            <a:solidFill>
              <a:srgbClr val="F66C0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1417320"/>
            <a:ext cx="2788920" cy="4206240"/>
          </a:xfrm>
          <a:prstGeom prst="roundRect">
            <a:avLst>
              <a:gd name="adj" fmla="val 3934"/>
            </a:avLst>
          </a:prstGeom>
          <a:solidFill>
            <a:srgbClr val="161E2D"/>
          </a:solidFill>
          <a:ln w="19050">
            <a:solidFill>
              <a:srgbClr val="F66C0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93692" y="1645920"/>
            <a:ext cx="731520" cy="731520"/>
          </a:xfrm>
          <a:prstGeom prst="ellipse">
            <a:avLst/>
          </a:prstGeom>
          <a:solidFill>
            <a:srgbClr val="F66C02"/>
          </a:solidFill>
          <a:ln w="12700">
            <a:solidFill>
              <a:srgbClr val="F66C0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93692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502152" y="25146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적재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547872" y="3108960"/>
            <a:ext cx="2423160" cy="502920"/>
          </a:xfrm>
          <a:prstGeom prst="roundRect">
            <a:avLst>
              <a:gd name="adj" fmla="val 10909"/>
            </a:avLst>
          </a:prstGeom>
          <a:solidFill>
            <a:srgbClr val="0D1117"/>
          </a:solidFill>
          <a:ln w="10160">
            <a:solidFill>
              <a:srgbClr val="5600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3592" y="31546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66C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add_content.py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47872" y="3749040"/>
            <a:ext cx="24231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로컬 파일 → S3 업로드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BDA 기반 인제스션 잡 트리거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rot="5400000">
            <a:off x="6153912" y="3291840"/>
            <a:ext cx="118872" cy="457200"/>
          </a:xfrm>
          <a:prstGeom prst="rtTriangle">
            <a:avLst/>
          </a:prstGeom>
          <a:solidFill>
            <a:srgbClr val="F66C02"/>
          </a:solidFill>
          <a:ln w="12700">
            <a:solidFill>
              <a:srgbClr val="F66C0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1417320"/>
            <a:ext cx="2788920" cy="4206240"/>
          </a:xfrm>
          <a:prstGeom prst="roundRect">
            <a:avLst>
              <a:gd name="adj" fmla="val 3934"/>
            </a:avLst>
          </a:prstGeom>
          <a:solidFill>
            <a:srgbClr val="161E2D"/>
          </a:solidFill>
          <a:ln w="19050">
            <a:solidFill>
              <a:srgbClr val="F66C0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01484" y="1645920"/>
            <a:ext cx="731520" cy="731520"/>
          </a:xfrm>
          <a:prstGeom prst="ellipse">
            <a:avLst/>
          </a:prstGeom>
          <a:solidFill>
            <a:srgbClr val="F66C02"/>
          </a:solidFill>
          <a:ln w="12700">
            <a:solidFill>
              <a:srgbClr val="F66C0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01484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409944" y="25146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애플리케이션 실행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55664" y="3108960"/>
            <a:ext cx="2423160" cy="502920"/>
          </a:xfrm>
          <a:prstGeom prst="roundRect">
            <a:avLst>
              <a:gd name="adj" fmla="val 10909"/>
            </a:avLst>
          </a:prstGeom>
          <a:solidFill>
            <a:srgbClr val="0D1117"/>
          </a:solidFill>
          <a:ln w="10160">
            <a:solidFill>
              <a:srgbClr val="5600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1384" y="31546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66C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55664" y="3749040"/>
            <a:ext cx="24231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 User Data가 자동 기동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CloudFront 도메인으로 외부 접속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 rot="5400000">
            <a:off x="9061704" y="3291840"/>
            <a:ext cx="118872" cy="457200"/>
          </a:xfrm>
          <a:prstGeom prst="rtTriangle">
            <a:avLst/>
          </a:prstGeom>
          <a:solidFill>
            <a:srgbClr val="F66C02"/>
          </a:solidFill>
          <a:ln w="12700">
            <a:solidFill>
              <a:srgbClr val="F66C0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80576" y="1417320"/>
            <a:ext cx="2788920" cy="4206240"/>
          </a:xfrm>
          <a:prstGeom prst="roundRect">
            <a:avLst>
              <a:gd name="adj" fmla="val 3934"/>
            </a:avLst>
          </a:prstGeom>
          <a:solidFill>
            <a:srgbClr val="161E2D"/>
          </a:solidFill>
          <a:ln w="19050">
            <a:solidFill>
              <a:srgbClr val="F66C0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209276" y="1645920"/>
            <a:ext cx="731520" cy="731520"/>
          </a:xfrm>
          <a:prstGeom prst="ellipse">
            <a:avLst/>
          </a:prstGeom>
          <a:solidFill>
            <a:srgbClr val="F66C02"/>
          </a:solidFill>
          <a:ln w="12700">
            <a:solidFill>
              <a:srgbClr val="F66C0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09276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9317736" y="25146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질의 처리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363456" y="3108960"/>
            <a:ext cx="2423160" cy="502920"/>
          </a:xfrm>
          <a:prstGeom prst="roundRect">
            <a:avLst>
              <a:gd name="adj" fmla="val 10909"/>
            </a:avLst>
          </a:prstGeom>
          <a:solidFill>
            <a:srgbClr val="0D1117"/>
          </a:solidFill>
          <a:ln w="10160">
            <a:solidFill>
              <a:srgbClr val="5600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09176" y="31546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66C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 → chat.py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363456" y="3749040"/>
            <a:ext cx="24231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LLM / mcp_retrieve RAG /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langgraph_agent 분기 처리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5760720"/>
            <a:ext cx="11475720" cy="502920"/>
          </a:xfrm>
          <a:prstGeom prst="roundRect">
            <a:avLst>
              <a:gd name="adj" fmla="val 14545"/>
            </a:avLst>
          </a:prstGeom>
          <a:solidFill>
            <a:srgbClr val="1A0B3D"/>
          </a:solidFill>
          <a:ln w="12700">
            <a:solidFill>
              <a:srgbClr val="C91F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779008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배포 소요 시간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15~25분 (인프라) + CloudFront 활성화 15~20분 추가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Data Automation (BDA) RAG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설치 단계 &amp; 문제 해결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669280" cy="5166360"/>
          </a:xfrm>
          <a:prstGeom prst="roundRect">
            <a:avLst>
              <a:gd name="adj" fmla="val 1770"/>
            </a:avLst>
          </a:prstGeom>
          <a:solidFill>
            <a:srgbClr val="161E2D"/>
          </a:solidFill>
          <a:ln w="19050">
            <a:solidFill>
              <a:srgbClr val="F66C0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설치 명령 (4단계)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 Clone &amp; 의존성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47088"/>
            <a:ext cx="5303520" cy="804672"/>
          </a:xfrm>
          <a:prstGeom prst="roundRect">
            <a:avLst>
              <a:gd name="adj" fmla="val 5682"/>
            </a:avLst>
          </a:prstGeom>
          <a:solidFill>
            <a:srgbClr val="0D1117"/>
          </a:solidFill>
          <a:ln w="10160">
            <a:solidFill>
              <a:srgbClr val="560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65376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kyopark2014/rag-automation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rag-automation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71576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 AWS 자격증명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08376"/>
            <a:ext cx="5303520" cy="804672"/>
          </a:xfrm>
          <a:prstGeom prst="roundRect">
            <a:avLst>
              <a:gd name="adj" fmla="val 5682"/>
            </a:avLst>
          </a:prstGeom>
          <a:solidFill>
            <a:srgbClr val="0D1117"/>
          </a:solidFill>
          <a:ln w="10160">
            <a:solidFill>
              <a:srgbClr val="5600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26664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configure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또는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sso login --profile &lt;p&gt;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AWS_PROFILE=&lt;p&gt;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87705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 인프라 배포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169664"/>
            <a:ext cx="5303520" cy="804672"/>
          </a:xfrm>
          <a:prstGeom prst="roundRect">
            <a:avLst>
              <a:gd name="adj" fmla="val 5682"/>
            </a:avLst>
          </a:prstGeom>
          <a:solidFill>
            <a:srgbClr val="0D1117"/>
          </a:solidFill>
          <a:ln w="10160">
            <a:solidFill>
              <a:srgbClr val="5600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18795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installer.py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약 15~25분 소요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config.json 자동 생성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503834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4️⃣  로컬 실행 / 정리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330952"/>
            <a:ext cx="5303520" cy="804672"/>
          </a:xfrm>
          <a:prstGeom prst="roundRect">
            <a:avLst>
              <a:gd name="adj" fmla="val 5682"/>
            </a:avLst>
          </a:prstGeom>
          <a:solidFill>
            <a:srgbClr val="0D1117"/>
          </a:solidFill>
          <a:ln w="10160">
            <a:solidFill>
              <a:srgbClr val="5600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3492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application/app.py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정리: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uninstaller.py --yes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1051560"/>
            <a:ext cx="5669280" cy="2286000"/>
          </a:xfrm>
          <a:prstGeom prst="roundRect">
            <a:avLst>
              <a:gd name="adj" fmla="val 4000"/>
            </a:avLst>
          </a:prstGeom>
          <a:solidFill>
            <a:srgbClr val="161E2D"/>
          </a:solidFill>
          <a:ln w="19050">
            <a:solidFill>
              <a:srgbClr val="C91F8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1143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준비 (Prerequisites)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1554480"/>
            <a:ext cx="53492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AWS 계정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/ 인프라 생성 권한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리전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us-west-2 (BDA / Nova / Claude 가능)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Bedrock 모델 액세스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Console에서 활성화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Python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 이상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AWS CLI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자격증명 설정 완료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3474720"/>
            <a:ext cx="5669280" cy="2743200"/>
          </a:xfrm>
          <a:prstGeom prst="roundRect">
            <a:avLst>
              <a:gd name="adj" fmla="val 3333"/>
            </a:avLst>
          </a:prstGeom>
          <a:solidFill>
            <a:srgbClr val="161E2D"/>
          </a:solidFill>
          <a:ln w="19050">
            <a:solidFill>
              <a:srgbClr val="C91F8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3566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 문제 해결 (Troubleshooting)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3931920"/>
            <a:ext cx="53492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AccessDenied (Bedrock) 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access 활성화 + InvokeModel/Async 권한 확인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ResourceNotFound (KB) 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config.json의 KB ID 일치 확인 (자동 복구 시도)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CloudFront 502/503 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15~20분 활성화 대기, ALB 타겟 헬스(:8501) 확인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add_content.py 설정 로드 실패 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installer.py 정상 완료 / config.json 생성 확인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BDA 인제스션 실패 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500MB / 3,000페이지 초과·암호 PDF 여부 확인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Data Automation (BDA) RAG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 문서 &amp; 마무리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22960" cy="45720"/>
          </a:xfrm>
          <a:prstGeom prst="rect">
            <a:avLst/>
          </a:prstGeom>
          <a:solidFill>
            <a:srgbClr val="F66C02"/>
          </a:solidFill>
          <a:ln w="12700">
            <a:solidFill>
              <a:srgbClr val="F66C0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Data Automation</a:t>
            </a:r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멀티모달 RAG를 </a:t>
            </a:r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API</a:t>
            </a:r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로,
</a:t>
            </a:r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F66C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installer.py</a:t>
            </a:r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인프라를 </a:t>
            </a:r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15분</a:t>
            </a:r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만에 자동 배포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AWS 공식 문서</a:t>
            </a:r>
            <a:endParaRPr lang="en-US" sz="1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1115568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61264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Parsing options for your data source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8D0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docs.aws.amazon.com/.../kb-advanced-parsing.html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is Bedrock Data Automation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8D0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docs.aws.amazon.com/.../bda.html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Bedrock Data Automation works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8D0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docs.aws.amazon.com/.../bda-how-it-works.html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 Region support for BDA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8D0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docs.aws.amazon.com/.../bda-cris.html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output in BDA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8D0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docs.aws.amazon.com/.../bda-standard-output.html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Bedrock Data Automation projects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8D0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docs.aws.amazon.com/.../bda-projects.html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11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 KB for multimodal content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8D0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docs.aws.amazon.com/.../kb-multimodal-create.html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E2D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623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48640" y="6080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6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 </a:t>
            </a:r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github.com/kyopark2014/rag-automation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발표자  ·  Solutions Architect  ·  AWS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Bedrock Data Automation 기반 RAG 구현</dc:title>
  <dc:subject>PptxGenJS Presentation</dc:subject>
  <dc:creator>PptxGenJS</dc:creator>
  <cp:lastModifiedBy>PptxGenJS</cp:lastModifiedBy>
  <cp:revision>1</cp:revision>
  <dcterms:created xsi:type="dcterms:W3CDTF">2026-05-25T02:40:45Z</dcterms:created>
  <dcterms:modified xsi:type="dcterms:W3CDTF">2026-05-25T02:40:45Z</dcterms:modified>
</cp:coreProperties>
</file>